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varScale="1">
        <p:scale>
          <a:sx n="117" d="100"/>
          <a:sy n="117" d="100"/>
        </p:scale>
        <p:origin x="808"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3C72"/>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362895" cy="1828800"/>
          </a:xfrm>
          <a:prstGeom prst="rect">
            <a:avLst/>
          </a:prstGeom>
          <a:noFill/>
        </p:spPr>
        <p:txBody>
          <a:bodyPr wrap="square">
            <a:spAutoFit/>
          </a:bodyPr>
          <a:lstStyle/>
          <a:p>
            <a:pPr algn="ctr"/>
            <a:r>
              <a:rPr sz="4000" b="1">
                <a:solidFill>
                  <a:srgbClr val="FFFFFF"/>
                </a:solidFill>
                <a:latin typeface="Arial"/>
              </a:rPr>
              <a:t>Panduan Aplikasi SISALAMKU</a:t>
            </a:r>
          </a:p>
          <a:p>
            <a:pPr algn="ctr"/>
            <a:r>
              <a:rPr sz="1600" i="1">
                <a:solidFill>
                  <a:srgbClr val="C8D2E6"/>
                </a:solidFill>
                <a:latin typeface="Arial"/>
              </a:rPr>
              <a:t>Sistem Informasi Administrasi Pengajuan &amp; Pelacakan Berkas SPJ
BPVP Surakarta</a:t>
            </a:r>
          </a:p>
        </p:txBody>
      </p:sp>
      <p:sp>
        <p:nvSpPr>
          <p:cNvPr id="3" name="TextBox 2"/>
          <p:cNvSpPr txBox="1"/>
          <p:nvPr/>
        </p:nvSpPr>
        <p:spPr>
          <a:xfrm>
            <a:off x="914400" y="5303520"/>
            <a:ext cx="10362895" cy="914400"/>
          </a:xfrm>
          <a:prstGeom prst="rect">
            <a:avLst/>
          </a:prstGeom>
          <a:noFill/>
        </p:spPr>
        <p:txBody>
          <a:bodyPr wrap="none">
            <a:spAutoFit/>
          </a:bodyPr>
          <a:lstStyle/>
          <a:p>
            <a:pPr algn="ctr"/>
            <a:r>
              <a:rPr sz="1200">
                <a:solidFill>
                  <a:srgbClr val="FFFFFF"/>
                </a:solidFill>
                <a:latin typeface="Arial"/>
              </a:rPr>
              <a:t>BPVP Surakarta - Kementerian Ketenagakerjaan RI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65760"/>
            <a:ext cx="10789920" cy="914400"/>
          </a:xfrm>
          <a:prstGeom prst="rect">
            <a:avLst/>
          </a:prstGeom>
          <a:noFill/>
        </p:spPr>
        <p:txBody>
          <a:bodyPr wrap="none">
            <a:spAutoFit/>
          </a:bodyPr>
          <a:lstStyle/>
          <a:p>
            <a:r>
              <a:rPr sz="2800" b="1">
                <a:solidFill>
                  <a:srgbClr val="1E3C72"/>
                </a:solidFill>
                <a:latin typeface="Arial"/>
              </a:rPr>
              <a:t>Pengenalan Aplikasi &amp; Kategori Belanja Baru</a:t>
            </a:r>
          </a:p>
        </p:txBody>
      </p:sp>
      <p:sp>
        <p:nvSpPr>
          <p:cNvPr id="3" name="TextBox 2"/>
          <p:cNvSpPr txBox="1"/>
          <p:nvPr/>
        </p:nvSpPr>
        <p:spPr>
          <a:xfrm>
            <a:off x="685800" y="1371600"/>
            <a:ext cx="10820095" cy="2246769"/>
          </a:xfrm>
          <a:prstGeom prst="rect">
            <a:avLst/>
          </a:prstGeom>
          <a:noFill/>
        </p:spPr>
        <p:txBody>
          <a:bodyPr wrap="square">
            <a:spAutoFit/>
          </a:bodyPr>
          <a:lstStyle/>
          <a:p>
            <a:pPr>
              <a:spcAft>
                <a:spcPts val="1200"/>
              </a:spcAft>
            </a:pPr>
            <a:r>
              <a:rPr sz="1500" b="1" dirty="0">
                <a:solidFill>
                  <a:srgbClr val="28323C"/>
                </a:solidFill>
              </a:rPr>
              <a:t>•  </a:t>
            </a:r>
            <a:r>
              <a:rPr sz="1500" b="1" dirty="0" err="1">
                <a:solidFill>
                  <a:srgbClr val="28323C"/>
                </a:solidFill>
              </a:rPr>
              <a:t>Definisi</a:t>
            </a:r>
            <a:r>
              <a:rPr sz="1500" b="1" dirty="0">
                <a:solidFill>
                  <a:srgbClr val="28323C"/>
                </a:solidFill>
              </a:rPr>
              <a:t>:</a:t>
            </a:r>
            <a:r>
              <a:rPr sz="1500" dirty="0">
                <a:solidFill>
                  <a:srgbClr val="3C4650"/>
                </a:solidFill>
              </a:rPr>
              <a:t> SISALAMKU </a:t>
            </a:r>
            <a:r>
              <a:rPr sz="1500" dirty="0" err="1">
                <a:solidFill>
                  <a:srgbClr val="3C4650"/>
                </a:solidFill>
              </a:rPr>
              <a:t>adalah</a:t>
            </a:r>
            <a:r>
              <a:rPr sz="1500" dirty="0">
                <a:solidFill>
                  <a:srgbClr val="3C4650"/>
                </a:solidFill>
              </a:rPr>
              <a:t> </a:t>
            </a:r>
            <a:r>
              <a:rPr sz="1500" dirty="0" err="1">
                <a:solidFill>
                  <a:srgbClr val="3C4650"/>
                </a:solidFill>
              </a:rPr>
              <a:t>sistem</a:t>
            </a:r>
            <a:r>
              <a:rPr sz="1500" dirty="0">
                <a:solidFill>
                  <a:srgbClr val="3C4650"/>
                </a:solidFill>
              </a:rPr>
              <a:t> </a:t>
            </a:r>
            <a:r>
              <a:rPr sz="1500" dirty="0" err="1">
                <a:solidFill>
                  <a:srgbClr val="3C4650"/>
                </a:solidFill>
              </a:rPr>
              <a:t>penatausahaan</a:t>
            </a:r>
            <a:r>
              <a:rPr sz="1500" dirty="0">
                <a:solidFill>
                  <a:srgbClr val="3C4650"/>
                </a:solidFill>
              </a:rPr>
              <a:t> </a:t>
            </a:r>
            <a:r>
              <a:rPr sz="1500" dirty="0" err="1">
                <a:solidFill>
                  <a:srgbClr val="3C4650"/>
                </a:solidFill>
              </a:rPr>
              <a:t>pengajuan</a:t>
            </a:r>
            <a:r>
              <a:rPr sz="1500" dirty="0">
                <a:solidFill>
                  <a:srgbClr val="3C4650"/>
                </a:solidFill>
              </a:rPr>
              <a:t> </a:t>
            </a:r>
            <a:r>
              <a:rPr sz="1500" dirty="0" err="1">
                <a:solidFill>
                  <a:srgbClr val="3C4650"/>
                </a:solidFill>
              </a:rPr>
              <a:t>berkas</a:t>
            </a:r>
            <a:r>
              <a:rPr sz="1500" dirty="0">
                <a:solidFill>
                  <a:srgbClr val="3C4650"/>
                </a:solidFill>
              </a:rPr>
              <a:t> SPJ </a:t>
            </a:r>
            <a:r>
              <a:rPr sz="1500" dirty="0" err="1">
                <a:solidFill>
                  <a:srgbClr val="3C4650"/>
                </a:solidFill>
              </a:rPr>
              <a:t>secara</a:t>
            </a:r>
            <a:r>
              <a:rPr sz="1500" dirty="0">
                <a:solidFill>
                  <a:srgbClr val="3C4650"/>
                </a:solidFill>
              </a:rPr>
              <a:t> digital, </a:t>
            </a:r>
            <a:r>
              <a:rPr sz="1500" dirty="0" err="1">
                <a:solidFill>
                  <a:srgbClr val="3C4650"/>
                </a:solidFill>
              </a:rPr>
              <a:t>transparan</a:t>
            </a:r>
            <a:r>
              <a:rPr sz="1500" dirty="0">
                <a:solidFill>
                  <a:srgbClr val="3C4650"/>
                </a:solidFill>
              </a:rPr>
              <a:t>, dan real-time.</a:t>
            </a:r>
          </a:p>
          <a:p>
            <a:pPr>
              <a:spcAft>
                <a:spcPts val="1200"/>
              </a:spcAft>
            </a:pPr>
            <a:r>
              <a:rPr sz="1500" b="1" dirty="0">
                <a:solidFill>
                  <a:srgbClr val="28323C"/>
                </a:solidFill>
              </a:rPr>
              <a:t>•  </a:t>
            </a:r>
            <a:r>
              <a:rPr sz="1500" b="1" dirty="0" err="1">
                <a:solidFill>
                  <a:srgbClr val="28323C"/>
                </a:solidFill>
              </a:rPr>
              <a:t>Mendukung</a:t>
            </a:r>
            <a:r>
              <a:rPr sz="1500" b="1" dirty="0">
                <a:solidFill>
                  <a:srgbClr val="28323C"/>
                </a:solidFill>
              </a:rPr>
              <a:t> 3 </a:t>
            </a:r>
            <a:r>
              <a:rPr sz="1500" b="1" dirty="0" err="1">
                <a:solidFill>
                  <a:srgbClr val="28323C"/>
                </a:solidFill>
              </a:rPr>
              <a:t>Kategori</a:t>
            </a:r>
            <a:r>
              <a:rPr sz="1500" b="1" dirty="0">
                <a:solidFill>
                  <a:srgbClr val="28323C"/>
                </a:solidFill>
              </a:rPr>
              <a:t> </a:t>
            </a:r>
            <a:r>
              <a:rPr sz="1500" b="1" dirty="0" err="1">
                <a:solidFill>
                  <a:srgbClr val="28323C"/>
                </a:solidFill>
              </a:rPr>
              <a:t>Belanja</a:t>
            </a:r>
            <a:r>
              <a:rPr sz="1500" b="1" dirty="0">
                <a:solidFill>
                  <a:srgbClr val="28323C"/>
                </a:solidFill>
              </a:rPr>
              <a:t> Utama:</a:t>
            </a:r>
          </a:p>
          <a:p>
            <a:pPr>
              <a:spcAft>
                <a:spcPts val="1200"/>
              </a:spcAft>
            </a:pPr>
            <a:r>
              <a:rPr sz="1500" dirty="0">
                <a:solidFill>
                  <a:srgbClr val="3C4650"/>
                </a:solidFill>
              </a:rPr>
              <a:t>•    1. GU / UP / TUP (</a:t>
            </a:r>
            <a:r>
              <a:rPr sz="1500" dirty="0" err="1">
                <a:solidFill>
                  <a:srgbClr val="3C4650"/>
                </a:solidFill>
              </a:rPr>
              <a:t>Ganti</a:t>
            </a:r>
            <a:r>
              <a:rPr sz="1500" dirty="0">
                <a:solidFill>
                  <a:srgbClr val="3C4650"/>
                </a:solidFill>
              </a:rPr>
              <a:t> Uang / Uang </a:t>
            </a:r>
            <a:r>
              <a:rPr sz="1500" dirty="0" err="1">
                <a:solidFill>
                  <a:srgbClr val="3C4650"/>
                </a:solidFill>
              </a:rPr>
              <a:t>Persediaan</a:t>
            </a:r>
            <a:r>
              <a:rPr sz="1500" dirty="0">
                <a:solidFill>
                  <a:srgbClr val="3C4650"/>
                </a:solidFill>
              </a:rPr>
              <a:t> / </a:t>
            </a:r>
            <a:r>
              <a:rPr sz="1500" dirty="0" err="1">
                <a:solidFill>
                  <a:srgbClr val="3C4650"/>
                </a:solidFill>
              </a:rPr>
              <a:t>Tambahan</a:t>
            </a:r>
            <a:r>
              <a:rPr sz="1500" dirty="0">
                <a:solidFill>
                  <a:srgbClr val="3C4650"/>
                </a:solidFill>
              </a:rPr>
              <a:t> Uang </a:t>
            </a:r>
            <a:r>
              <a:rPr sz="1500" dirty="0" err="1">
                <a:solidFill>
                  <a:srgbClr val="3C4650"/>
                </a:solidFill>
              </a:rPr>
              <a:t>Persediaan</a:t>
            </a:r>
            <a:r>
              <a:rPr sz="1500" dirty="0">
                <a:solidFill>
                  <a:srgbClr val="3C4650"/>
                </a:solidFill>
              </a:rPr>
              <a:t>)</a:t>
            </a:r>
          </a:p>
          <a:p>
            <a:pPr>
              <a:spcAft>
                <a:spcPts val="1200"/>
              </a:spcAft>
            </a:pPr>
            <a:r>
              <a:rPr sz="1500" dirty="0">
                <a:solidFill>
                  <a:srgbClr val="3C4650"/>
                </a:solidFill>
              </a:rPr>
              <a:t>•    2. LS </a:t>
            </a:r>
            <a:r>
              <a:rPr sz="1500" dirty="0" err="1">
                <a:solidFill>
                  <a:srgbClr val="3C4650"/>
                </a:solidFill>
              </a:rPr>
              <a:t>Kontrak</a:t>
            </a:r>
            <a:r>
              <a:rPr sz="1500" dirty="0">
                <a:solidFill>
                  <a:srgbClr val="3C4650"/>
                </a:solidFill>
              </a:rPr>
              <a:t> (</a:t>
            </a:r>
            <a:r>
              <a:rPr sz="1500" dirty="0" err="1">
                <a:solidFill>
                  <a:srgbClr val="3C4650"/>
                </a:solidFill>
              </a:rPr>
              <a:t>Pihak</a:t>
            </a:r>
            <a:r>
              <a:rPr sz="1500" dirty="0">
                <a:solidFill>
                  <a:srgbClr val="3C4650"/>
                </a:solidFill>
              </a:rPr>
              <a:t> </a:t>
            </a:r>
            <a:r>
              <a:rPr sz="1500" dirty="0" err="1">
                <a:solidFill>
                  <a:srgbClr val="3C4650"/>
                </a:solidFill>
              </a:rPr>
              <a:t>ketiga</a:t>
            </a:r>
            <a:r>
              <a:rPr sz="1500" dirty="0">
                <a:solidFill>
                  <a:srgbClr val="3C4650"/>
                </a:solidFill>
              </a:rPr>
              <a:t>/</a:t>
            </a:r>
            <a:r>
              <a:rPr sz="1500" dirty="0" err="1">
                <a:solidFill>
                  <a:srgbClr val="3C4650"/>
                </a:solidFill>
              </a:rPr>
              <a:t>kontrak</a:t>
            </a:r>
            <a:r>
              <a:rPr sz="1500" dirty="0">
                <a:solidFill>
                  <a:srgbClr val="3C4650"/>
                </a:solidFill>
              </a:rPr>
              <a:t> </a:t>
            </a:r>
            <a:r>
              <a:rPr sz="1500" dirty="0" err="1">
                <a:solidFill>
                  <a:srgbClr val="3C4650"/>
                </a:solidFill>
              </a:rPr>
              <a:t>komitmen</a:t>
            </a:r>
            <a:r>
              <a:rPr sz="1500" dirty="0">
                <a:solidFill>
                  <a:srgbClr val="3C4650"/>
                </a:solidFill>
              </a:rPr>
              <a:t> </a:t>
            </a:r>
            <a:r>
              <a:rPr sz="1500" dirty="0" err="1">
                <a:solidFill>
                  <a:srgbClr val="3C4650"/>
                </a:solidFill>
              </a:rPr>
              <a:t>anggaran</a:t>
            </a:r>
            <a:r>
              <a:rPr sz="1500" dirty="0">
                <a:solidFill>
                  <a:srgbClr val="3C4650"/>
                </a:solidFill>
              </a:rPr>
              <a:t>)</a:t>
            </a:r>
          </a:p>
          <a:p>
            <a:pPr>
              <a:spcAft>
                <a:spcPts val="1200"/>
              </a:spcAft>
            </a:pPr>
            <a:r>
              <a:rPr sz="1500" dirty="0">
                <a:solidFill>
                  <a:srgbClr val="3C4650"/>
                </a:solidFill>
              </a:rPr>
              <a:t>•    3. LS Non </a:t>
            </a:r>
            <a:r>
              <a:rPr sz="1500" dirty="0" err="1">
                <a:solidFill>
                  <a:srgbClr val="3C4650"/>
                </a:solidFill>
              </a:rPr>
              <a:t>Kontrak</a:t>
            </a:r>
            <a:r>
              <a:rPr sz="1500" dirty="0">
                <a:solidFill>
                  <a:srgbClr val="3C4650"/>
                </a:solidFill>
              </a:rPr>
              <a:t> (Non-</a:t>
            </a:r>
            <a:r>
              <a:rPr sz="1500" dirty="0" err="1">
                <a:solidFill>
                  <a:srgbClr val="3C4650"/>
                </a:solidFill>
              </a:rPr>
              <a:t>komitmen</a:t>
            </a:r>
            <a:r>
              <a:rPr sz="1500" dirty="0">
                <a:solidFill>
                  <a:srgbClr val="3C4650"/>
                </a:solidFill>
              </a:rPr>
              <a:t> </a:t>
            </a:r>
            <a:r>
              <a:rPr sz="1500" dirty="0" err="1">
                <a:solidFill>
                  <a:srgbClr val="3C4650"/>
                </a:solidFill>
              </a:rPr>
              <a:t>kontrak</a:t>
            </a:r>
            <a:r>
              <a:rPr sz="1500" dirty="0">
                <a:solidFill>
                  <a:srgbClr val="3C4650"/>
                </a:solidFill>
              </a:rPr>
              <a:t> </a:t>
            </a:r>
            <a:r>
              <a:rPr sz="1500" dirty="0" err="1">
                <a:solidFill>
                  <a:srgbClr val="3C4650"/>
                </a:solidFill>
              </a:rPr>
              <a:t>langsung</a:t>
            </a:r>
            <a:r>
              <a:rPr sz="1500" dirty="0">
                <a:solidFill>
                  <a:srgbClr val="3C4650"/>
                </a:solidFill>
              </a:rPr>
              <a:t>)</a:t>
            </a:r>
          </a:p>
          <a:p>
            <a:pPr>
              <a:spcAft>
                <a:spcPts val="1200"/>
              </a:spcAft>
            </a:pPr>
            <a:r>
              <a:rPr sz="1500" b="1" dirty="0">
                <a:solidFill>
                  <a:srgbClr val="28323C"/>
                </a:solidFill>
              </a:rPr>
              <a:t>•  </a:t>
            </a:r>
            <a:r>
              <a:rPr sz="1500" b="1" dirty="0" err="1">
                <a:solidFill>
                  <a:srgbClr val="28323C"/>
                </a:solidFill>
              </a:rPr>
              <a:t>Tujuan</a:t>
            </a:r>
            <a:r>
              <a:rPr sz="1500" b="1" dirty="0">
                <a:solidFill>
                  <a:srgbClr val="28323C"/>
                </a:solidFill>
              </a:rPr>
              <a:t>:</a:t>
            </a:r>
            <a:r>
              <a:rPr sz="1500" dirty="0">
                <a:solidFill>
                  <a:srgbClr val="3C4650"/>
                </a:solidFill>
              </a:rPr>
              <a:t> </a:t>
            </a:r>
            <a:r>
              <a:rPr sz="1500" dirty="0" err="1">
                <a:solidFill>
                  <a:srgbClr val="3C4650"/>
                </a:solidFill>
              </a:rPr>
              <a:t>Menjamin</a:t>
            </a:r>
            <a:r>
              <a:rPr sz="1500" dirty="0">
                <a:solidFill>
                  <a:srgbClr val="3C4650"/>
                </a:solidFill>
              </a:rPr>
              <a:t> </a:t>
            </a:r>
            <a:r>
              <a:rPr sz="1500" dirty="0" err="1">
                <a:solidFill>
                  <a:srgbClr val="3C4650"/>
                </a:solidFill>
              </a:rPr>
              <a:t>akuntabilitas</a:t>
            </a:r>
            <a:r>
              <a:rPr sz="1500" dirty="0">
                <a:solidFill>
                  <a:srgbClr val="3C4650"/>
                </a:solidFill>
              </a:rPr>
              <a:t> </a:t>
            </a:r>
            <a:r>
              <a:rPr sz="1500" dirty="0" err="1">
                <a:solidFill>
                  <a:srgbClr val="3C4650"/>
                </a:solidFill>
              </a:rPr>
              <a:t>verifikasi</a:t>
            </a:r>
            <a:r>
              <a:rPr sz="1500" dirty="0">
                <a:solidFill>
                  <a:srgbClr val="3C4650"/>
                </a:solidFill>
              </a:rPr>
              <a:t> </a:t>
            </a:r>
            <a:r>
              <a:rPr sz="1500" dirty="0" err="1">
                <a:solidFill>
                  <a:srgbClr val="3C4650"/>
                </a:solidFill>
              </a:rPr>
              <a:t>berkas</a:t>
            </a:r>
            <a:r>
              <a:rPr sz="1500" dirty="0">
                <a:solidFill>
                  <a:srgbClr val="3C4650"/>
                </a:solidFill>
              </a:rPr>
              <a:t> dan </a:t>
            </a:r>
            <a:r>
              <a:rPr sz="1500" dirty="0" err="1">
                <a:solidFill>
                  <a:srgbClr val="3C4650"/>
                </a:solidFill>
              </a:rPr>
              <a:t>memangkas</a:t>
            </a:r>
            <a:r>
              <a:rPr sz="1500" dirty="0">
                <a:solidFill>
                  <a:srgbClr val="3C4650"/>
                </a:solidFill>
              </a:rPr>
              <a:t> </a:t>
            </a:r>
            <a:r>
              <a:rPr sz="1500" dirty="0" err="1">
                <a:solidFill>
                  <a:srgbClr val="3C4650"/>
                </a:solidFill>
              </a:rPr>
              <a:t>birokrasi</a:t>
            </a:r>
            <a:r>
              <a:rPr sz="1500" dirty="0">
                <a:solidFill>
                  <a:srgbClr val="3C4650"/>
                </a:solidFill>
              </a:rPr>
              <a:t> </a:t>
            </a:r>
            <a:r>
              <a:rPr sz="1500" dirty="0" err="1">
                <a:solidFill>
                  <a:srgbClr val="3C4650"/>
                </a:solidFill>
              </a:rPr>
              <a:t>koordinasi</a:t>
            </a:r>
            <a:r>
              <a:rPr sz="1500" dirty="0">
                <a:solidFill>
                  <a:srgbClr val="3C4650"/>
                </a:solidFill>
              </a:rPr>
              <a:t> internal.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65760"/>
            <a:ext cx="10789920" cy="914400"/>
          </a:xfrm>
          <a:prstGeom prst="rect">
            <a:avLst/>
          </a:prstGeom>
          <a:noFill/>
        </p:spPr>
        <p:txBody>
          <a:bodyPr wrap="none">
            <a:spAutoFit/>
          </a:bodyPr>
          <a:lstStyle/>
          <a:p>
            <a:r>
              <a:rPr sz="2800" b="1">
                <a:solidFill>
                  <a:srgbClr val="1E3C72"/>
                </a:solidFill>
                <a:latin typeface="Arial"/>
              </a:rPr>
              <a:t>Hak Akses &amp; Peran Pengguna (RBAC)</a:t>
            </a:r>
          </a:p>
        </p:txBody>
      </p:sp>
      <p:sp>
        <p:nvSpPr>
          <p:cNvPr id="3" name="TextBox 2"/>
          <p:cNvSpPr txBox="1"/>
          <p:nvPr/>
        </p:nvSpPr>
        <p:spPr>
          <a:xfrm>
            <a:off x="685800" y="1371600"/>
            <a:ext cx="10820095" cy="4754880"/>
          </a:xfrm>
          <a:prstGeom prst="rect">
            <a:avLst/>
          </a:prstGeom>
          <a:noFill/>
        </p:spPr>
        <p:txBody>
          <a:bodyPr wrap="square">
            <a:spAutoFit/>
          </a:bodyPr>
          <a:lstStyle/>
          <a:p>
            <a:pPr>
              <a:spcAft>
                <a:spcPts val="1200"/>
              </a:spcAft>
            </a:pPr>
            <a:r>
              <a:rPr sz="1500" b="1">
                <a:solidFill>
                  <a:srgbClr val="28323C"/>
                </a:solidFill>
              </a:rPr>
              <a:t>•  Operator Bidang (Pemohon):</a:t>
            </a:r>
            <a:r>
              <a:rPr sz="1500">
                <a:solidFill>
                  <a:srgbClr val="3C4650"/>
                </a:solidFill>
              </a:rPr>
              <a:t> Membuat draft pengajuan, input bruto/neto, melampirkan link Google Drive dokumen pendukung.</a:t>
            </a:r>
          </a:p>
          <a:p>
            <a:pPr>
              <a:spcAft>
                <a:spcPts val="1200"/>
              </a:spcAft>
            </a:pPr>
            <a:r>
              <a:rPr sz="1500" b="1">
                <a:solidFill>
                  <a:srgbClr val="28323C"/>
                </a:solidFill>
              </a:rPr>
              <a:t>•  Verifikator Keuangan:</a:t>
            </a:r>
            <a:r>
              <a:rPr sz="1500">
                <a:solidFill>
                  <a:srgbClr val="3C4650"/>
                </a:solidFill>
              </a:rPr>
              <a:t> Memeriksa kelengkapan administrasi &amp; pagu DIPA. Berhak menyetujui atau meminta revisi (perbaikan).</a:t>
            </a:r>
          </a:p>
          <a:p>
            <a:pPr>
              <a:spcAft>
                <a:spcPts val="1200"/>
              </a:spcAft>
            </a:pPr>
            <a:r>
              <a:rPr sz="1500" b="1">
                <a:solidFill>
                  <a:srgbClr val="28323C"/>
                </a:solidFill>
              </a:rPr>
              <a:t>•  Pejabat Pembuat Komitmen (PPK):</a:t>
            </a:r>
            <a:r>
              <a:rPr sz="1500">
                <a:solidFill>
                  <a:srgbClr val="3C4650"/>
                </a:solidFill>
              </a:rPr>
              <a:t> Memberikan persetujuan finansial akhir secara internal sebelum proses aplikasi SAKTI.</a:t>
            </a:r>
          </a:p>
          <a:p>
            <a:pPr>
              <a:spcAft>
                <a:spcPts val="1200"/>
              </a:spcAft>
            </a:pPr>
            <a:r>
              <a:rPr sz="1500" b="1">
                <a:solidFill>
                  <a:srgbClr val="28323C"/>
                </a:solidFill>
              </a:rPr>
              <a:t>•  Operator Pembayaran:</a:t>
            </a:r>
            <a:r>
              <a:rPr sz="1500">
                <a:solidFill>
                  <a:srgbClr val="3C4650"/>
                </a:solidFill>
              </a:rPr>
              <a:t> Memproses SPM di aplikasi SAKTI Kemenkeu dan menginput nomor SPM ke sistem.</a:t>
            </a:r>
          </a:p>
          <a:p>
            <a:pPr>
              <a:spcAft>
                <a:spcPts val="1200"/>
              </a:spcAft>
            </a:pPr>
            <a:r>
              <a:rPr sz="1500" b="1">
                <a:solidFill>
                  <a:srgbClr val="28323C"/>
                </a:solidFill>
              </a:rPr>
              <a:t>•  Bendahara:</a:t>
            </a:r>
            <a:r>
              <a:rPr sz="1500">
                <a:solidFill>
                  <a:srgbClr val="3C4650"/>
                </a:solidFill>
              </a:rPr>
              <a:t> Memantau pencairan SP2D KPPN, menginput tanggal cair, menyerahkan uang, dan mengupload kuitansi terima Google Drive.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65760"/>
            <a:ext cx="10789920" cy="914400"/>
          </a:xfrm>
          <a:prstGeom prst="rect">
            <a:avLst/>
          </a:prstGeom>
          <a:noFill/>
        </p:spPr>
        <p:txBody>
          <a:bodyPr wrap="none">
            <a:spAutoFit/>
          </a:bodyPr>
          <a:lstStyle/>
          <a:p>
            <a:r>
              <a:rPr sz="2800" b="1">
                <a:solidFill>
                  <a:srgbClr val="1E3C72"/>
                </a:solidFill>
                <a:latin typeface="Arial"/>
              </a:rPr>
              <a:t>Alur Proses Pengajuan Berkas (6 Langkah Utama)</a:t>
            </a:r>
          </a:p>
        </p:txBody>
      </p:sp>
      <p:sp>
        <p:nvSpPr>
          <p:cNvPr id="3" name="TextBox 2"/>
          <p:cNvSpPr txBox="1"/>
          <p:nvPr/>
        </p:nvSpPr>
        <p:spPr>
          <a:xfrm>
            <a:off x="685800" y="1371600"/>
            <a:ext cx="10820095" cy="4754880"/>
          </a:xfrm>
          <a:prstGeom prst="rect">
            <a:avLst/>
          </a:prstGeom>
          <a:noFill/>
        </p:spPr>
        <p:txBody>
          <a:bodyPr wrap="square">
            <a:spAutoFit/>
          </a:bodyPr>
          <a:lstStyle/>
          <a:p>
            <a:pPr>
              <a:spcAft>
                <a:spcPts val="1200"/>
              </a:spcAft>
            </a:pPr>
            <a:r>
              <a:rPr sz="1500" b="1">
                <a:solidFill>
                  <a:srgbClr val="28323C"/>
                </a:solidFill>
              </a:rPr>
              <a:t>•  1. Pendaftaran Berkas:</a:t>
            </a:r>
            <a:r>
              <a:rPr sz="1500">
                <a:solidFill>
                  <a:srgbClr val="3C4650"/>
                </a:solidFill>
              </a:rPr>
              <a:t> Operator Bidang menginput detail berkas pendukung (Google Drive) &amp; Kategori Pengajuan.</a:t>
            </a:r>
          </a:p>
          <a:p>
            <a:pPr>
              <a:spcAft>
                <a:spcPts val="1200"/>
              </a:spcAft>
            </a:pPr>
            <a:r>
              <a:rPr sz="1500" b="1">
                <a:solidFill>
                  <a:srgbClr val="28323C"/>
                </a:solidFill>
              </a:rPr>
              <a:t>•  2. Verifikasi Administrasi:</a:t>
            </a:r>
            <a:r>
              <a:rPr sz="1500">
                <a:solidFill>
                  <a:srgbClr val="3C4650"/>
                </a:solidFill>
              </a:rPr>
              <a:t> Verifikator Keuangan melakukan checklist. (Bisa dikembalikan ke status 'Perlu Perbaikan').</a:t>
            </a:r>
          </a:p>
          <a:p>
            <a:pPr>
              <a:spcAft>
                <a:spcPts val="1200"/>
              </a:spcAft>
            </a:pPr>
            <a:r>
              <a:rPr sz="1500" b="1">
                <a:solidFill>
                  <a:srgbClr val="28323C"/>
                </a:solidFill>
              </a:rPr>
              <a:t>•  3. Persetujuan PPK:</a:t>
            </a:r>
            <a:r>
              <a:rPr sz="1500">
                <a:solidFill>
                  <a:srgbClr val="3C4650"/>
                </a:solidFill>
              </a:rPr>
              <a:t> PPK menyetujui kelayakan dana. (Bisa menolak dan dikembalikan ke 'Perlu Perbaikan').</a:t>
            </a:r>
          </a:p>
          <a:p>
            <a:pPr>
              <a:spcAft>
                <a:spcPts val="1200"/>
              </a:spcAft>
            </a:pPr>
            <a:r>
              <a:rPr sz="1500" b="1">
                <a:solidFill>
                  <a:srgbClr val="28323C"/>
                </a:solidFill>
              </a:rPr>
              <a:t>•  4. Pembuatan SPM:</a:t>
            </a:r>
            <a:r>
              <a:rPr sz="1500">
                <a:solidFill>
                  <a:srgbClr val="3C4650"/>
                </a:solidFill>
              </a:rPr>
              <a:t> Operator Pembayaran mendaftarkan ke SAKTI dan menginput nomor SPM.</a:t>
            </a:r>
          </a:p>
          <a:p>
            <a:pPr>
              <a:spcAft>
                <a:spcPts val="1200"/>
              </a:spcAft>
            </a:pPr>
            <a:r>
              <a:rPr sz="1500" b="1">
                <a:solidFill>
                  <a:srgbClr val="28323C"/>
                </a:solidFill>
              </a:rPr>
              <a:t>•  5. Pencairan SP2D:</a:t>
            </a:r>
            <a:r>
              <a:rPr sz="1500">
                <a:solidFill>
                  <a:srgbClr val="3C4650"/>
                </a:solidFill>
              </a:rPr>
              <a:t> Bendahara memantau dan menginput nomor SP2D serta tanggal pencairan ketika dana cair.</a:t>
            </a:r>
          </a:p>
          <a:p>
            <a:pPr>
              <a:spcAft>
                <a:spcPts val="1200"/>
              </a:spcAft>
            </a:pPr>
            <a:r>
              <a:rPr sz="1500" b="1">
                <a:solidFill>
                  <a:srgbClr val="28323C"/>
                </a:solidFill>
              </a:rPr>
              <a:t>•  6. Penyerahan Uang (Selesai):</a:t>
            </a:r>
            <a:r>
              <a:rPr sz="1500">
                <a:solidFill>
                  <a:srgbClr val="3C4650"/>
                </a:solidFill>
              </a:rPr>
              <a:t> Bendahara menyerahkan uang ke Pemohon dan mengupload link kuitansi tanda terima di Google Drive.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65760"/>
            <a:ext cx="10789920" cy="914400"/>
          </a:xfrm>
          <a:prstGeom prst="rect">
            <a:avLst/>
          </a:prstGeom>
          <a:noFill/>
        </p:spPr>
        <p:txBody>
          <a:bodyPr wrap="none">
            <a:spAutoFit/>
          </a:bodyPr>
          <a:lstStyle/>
          <a:p>
            <a:r>
              <a:rPr sz="2800" b="1">
                <a:solidFill>
                  <a:srgbClr val="1E3C72"/>
                </a:solidFill>
                <a:latin typeface="Arial"/>
              </a:rPr>
              <a:t>Fasilitas Manajemen Bidang Dinamis (UPTD &amp; Satpel)</a:t>
            </a:r>
          </a:p>
        </p:txBody>
      </p:sp>
      <p:sp>
        <p:nvSpPr>
          <p:cNvPr id="3" name="TextBox 2"/>
          <p:cNvSpPr txBox="1"/>
          <p:nvPr/>
        </p:nvSpPr>
        <p:spPr>
          <a:xfrm>
            <a:off x="685800" y="1371600"/>
            <a:ext cx="10820095" cy="4754880"/>
          </a:xfrm>
          <a:prstGeom prst="rect">
            <a:avLst/>
          </a:prstGeom>
          <a:noFill/>
        </p:spPr>
        <p:txBody>
          <a:bodyPr wrap="square">
            <a:spAutoFit/>
          </a:bodyPr>
          <a:lstStyle/>
          <a:p>
            <a:pPr>
              <a:spcBef>
                <a:spcPts val="800"/>
              </a:spcBef>
              <a:spcAft>
                <a:spcPts val="1200"/>
              </a:spcAft>
            </a:pPr>
            <a:r>
              <a:rPr sz="1800" b="1">
                <a:solidFill>
                  <a:srgbClr val="1E3C72"/>
                </a:solidFill>
              </a:rPr>
              <a:t>Solusi Skalabilitas Banyak UPTD &amp; Satpel:</a:t>
            </a:r>
          </a:p>
          <a:p>
            <a:pPr>
              <a:spcAft>
                <a:spcPts val="1200"/>
              </a:spcAft>
            </a:pPr>
            <a:r>
              <a:rPr sz="1500" b="1">
                <a:solidFill>
                  <a:srgbClr val="28323C"/>
                </a:solidFill>
              </a:rPr>
              <a:t>•  Database Dinamis:</a:t>
            </a:r>
            <a:r>
              <a:rPr sz="1500">
                <a:solidFill>
                  <a:srgbClr val="3C4650"/>
                </a:solidFill>
              </a:rPr>
              <a:t> Kolom 'bidang' menggunakan tipe string(100) tanpa batasan enum kaku, aman untuk menampung nama UPTD/Satpel baru.</a:t>
            </a:r>
          </a:p>
          <a:p>
            <a:pPr>
              <a:spcAft>
                <a:spcPts val="1200"/>
              </a:spcAft>
            </a:pPr>
            <a:r>
              <a:rPr sz="1500" b="1">
                <a:solidFill>
                  <a:srgbClr val="28323C"/>
                </a:solidFill>
              </a:rPr>
              <a:t>•  Input Bidang Custom:</a:t>
            </a:r>
            <a:r>
              <a:rPr sz="1500">
                <a:solidFill>
                  <a:srgbClr val="3C4650"/>
                </a:solidFill>
              </a:rPr>
              <a:t> Di halaman tambah/edit pengguna, Admin Keuangan dapat memilih opsi 'Tulis UPTD / Satpel Spesifik...' untuk mengetik manual.</a:t>
            </a:r>
          </a:p>
          <a:p>
            <a:pPr>
              <a:spcAft>
                <a:spcPts val="1200"/>
              </a:spcAft>
            </a:pPr>
            <a:r>
              <a:rPr sz="1500" b="1">
                <a:solidFill>
                  <a:srgbClr val="28323C"/>
                </a:solidFill>
              </a:rPr>
              <a:t>•  Penyaringan Berkas Dinamis:</a:t>
            </a:r>
            <a:r>
              <a:rPr sz="1500">
                <a:solidFill>
                  <a:srgbClr val="3C4650"/>
                </a:solidFill>
              </a:rPr>
              <a:t> Filter bidang pada tabel pengajuan otomatis mendeteksi bidang unik (DISTINCT) secara dinamis dari database.</a:t>
            </a:r>
          </a:p>
          <a:p>
            <a:pPr>
              <a:spcAft>
                <a:spcPts val="1200"/>
              </a:spcAft>
            </a:pPr>
            <a:r>
              <a:rPr sz="1500" b="1">
                <a:solidFill>
                  <a:srgbClr val="28323C"/>
                </a:solidFill>
              </a:rPr>
              <a:t>•  Tanpa Modifikasi Kode:</a:t>
            </a:r>
            <a:r>
              <a:rPr sz="1500">
                <a:solidFill>
                  <a:srgbClr val="3C4650"/>
                </a:solidFill>
              </a:rPr>
              <a:t> Setiap ada Satpel atau UPTD baru ditambahkan, nama tersebut otomatis langsung terdaftar pada pencarian.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65760"/>
            <a:ext cx="10789920" cy="914400"/>
          </a:xfrm>
          <a:prstGeom prst="rect">
            <a:avLst/>
          </a:prstGeom>
          <a:noFill/>
        </p:spPr>
        <p:txBody>
          <a:bodyPr wrap="none">
            <a:spAutoFit/>
          </a:bodyPr>
          <a:lstStyle/>
          <a:p>
            <a:r>
              <a:rPr sz="2800" b="1">
                <a:solidFill>
                  <a:srgbClr val="1E3C72"/>
                </a:solidFill>
                <a:latin typeface="Arial"/>
              </a:rPr>
              <a:t>Fitur Efisiensi Tambahan</a:t>
            </a:r>
          </a:p>
        </p:txBody>
      </p:sp>
      <p:sp>
        <p:nvSpPr>
          <p:cNvPr id="3" name="TextBox 2"/>
          <p:cNvSpPr txBox="1"/>
          <p:nvPr/>
        </p:nvSpPr>
        <p:spPr>
          <a:xfrm>
            <a:off x="685800" y="1371600"/>
            <a:ext cx="10820095" cy="4754880"/>
          </a:xfrm>
          <a:prstGeom prst="rect">
            <a:avLst/>
          </a:prstGeom>
          <a:noFill/>
        </p:spPr>
        <p:txBody>
          <a:bodyPr wrap="square">
            <a:spAutoFit/>
          </a:bodyPr>
          <a:lstStyle/>
          <a:p>
            <a:pPr>
              <a:spcBef>
                <a:spcPts val="800"/>
              </a:spcBef>
              <a:spcAft>
                <a:spcPts val="1200"/>
              </a:spcAft>
            </a:pPr>
            <a:r>
              <a:rPr sz="1800" b="1">
                <a:solidFill>
                  <a:srgbClr val="1E3C72"/>
                </a:solidFill>
              </a:rPr>
              <a:t>1. Zero Hosting Space (Google Drive Integration)</a:t>
            </a:r>
          </a:p>
          <a:p>
            <a:pPr>
              <a:spcAft>
                <a:spcPts val="1200"/>
              </a:spcAft>
            </a:pPr>
            <a:r>
              <a:rPr sz="1500">
                <a:solidFill>
                  <a:srgbClr val="3C4650"/>
                </a:solidFill>
              </a:rPr>
              <a:t>•  Sistem menggunakan Google Drive untuk menyimpan seluruh file dokumen pendukung (oleh Pemohon) dan file kuitansi serah terima (oleh Bendahara). Ini menghemat kuota space hosting cPanel secara total karena database hanya menyimpan tautan teks URL.</a:t>
            </a:r>
          </a:p>
          <a:p>
            <a:pPr>
              <a:spcBef>
                <a:spcPts val="800"/>
              </a:spcBef>
              <a:spcAft>
                <a:spcPts val="1200"/>
              </a:spcAft>
            </a:pPr>
            <a:r>
              <a:rPr sz="1800" b="1">
                <a:solidFill>
                  <a:srgbClr val="1E3C72"/>
                </a:solidFill>
              </a:rPr>
              <a:t>2. Monitoring Waktu Pemrosesan (SPM ke SP2D)</a:t>
            </a:r>
          </a:p>
          <a:p>
            <a:pPr>
              <a:spcAft>
                <a:spcPts val="1200"/>
              </a:spcAft>
            </a:pPr>
            <a:r>
              <a:rPr sz="1500">
                <a:solidFill>
                  <a:srgbClr val="3C4650"/>
                </a:solidFill>
              </a:rPr>
              <a:t>•  Aplikasi secara otomatis menghitung selisih hari pemrosesan dari tahap terbitnya SPM (diinput Operator Pembayaran) hingga tanggal cairnya dana (diinput Bendahara). Selisih hari ditampilkan di detail sebagai metrik Indikator Kinerja Utama (IKU) Keuangan.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555</Words>
  <Application>Microsoft Macintosh PowerPoint</Application>
  <PresentationFormat>Widescreen</PresentationFormat>
  <Paragraphs>34</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Arif Budi</cp:lastModifiedBy>
  <cp:revision>2</cp:revision>
  <dcterms:created xsi:type="dcterms:W3CDTF">2013-01-27T09:14:16Z</dcterms:created>
  <dcterms:modified xsi:type="dcterms:W3CDTF">2026-06-26T03:09:25Z</dcterms:modified>
  <cp:category/>
</cp:coreProperties>
</file>